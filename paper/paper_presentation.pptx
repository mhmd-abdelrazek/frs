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308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457200" y="5093208"/>
            <a:ext cx="8686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6400800" y="777240"/>
            <a:ext cx="2286000" cy="2286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6400800" y="777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🔐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731520"/>
            <a:ext cx="5577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Biometric</a:t>
            </a:r>
            <a:endParaRPr lang="en-US" sz="3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3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Educators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Physics: Conference Series 2034 (2021)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77072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292608" y="914400"/>
            <a:ext cx="855878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365760" y="92354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95628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457200" y="15956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52247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Mohamed Helal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17420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457200" y="22174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14426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Ahmed Abdelrazek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839212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457200" y="28392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276606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Ahmed Anwar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461004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457200" y="34610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338785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Magdy Mahmoud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082796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9"/>
          <p:cNvSpPr/>
          <p:nvPr/>
        </p:nvSpPr>
        <p:spPr>
          <a:xfrm>
            <a:off x="457200" y="40827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40096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Mohamed Ahmed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02352" y="1595628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Text 25"/>
          <p:cNvSpPr/>
          <p:nvPr/>
        </p:nvSpPr>
        <p:spPr>
          <a:xfrm>
            <a:off x="5102352" y="15956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9824" y="152247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Hany Gamal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102352" y="2217420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5102352" y="22174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9824" y="214426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Amir Khalil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02352" y="2839212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Text 31"/>
          <p:cNvSpPr/>
          <p:nvPr/>
        </p:nvSpPr>
        <p:spPr>
          <a:xfrm>
            <a:off x="5102352" y="28392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9824" y="276606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Shahat Mohamed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102352" y="3461004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34"/>
          <p:cNvSpPr/>
          <p:nvPr/>
        </p:nvSpPr>
        <p:spPr>
          <a:xfrm>
            <a:off x="5102352" y="34610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9824" y="338785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Hamada Kamal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102352" y="4082796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9" name="Text 37"/>
          <p:cNvSpPr/>
          <p:nvPr/>
        </p:nvSpPr>
        <p:spPr>
          <a:xfrm>
            <a:off x="5009250" y="4014216"/>
            <a:ext cx="4583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9824" y="40096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Belal Ibrahim Sayed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274320" y="4754880"/>
            <a:ext cx="8577072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2" name="Text 40"/>
          <p:cNvSpPr/>
          <p:nvPr/>
        </p:nvSpPr>
        <p:spPr>
          <a:xfrm>
            <a:off x="274320" y="4754880"/>
            <a:ext cx="8577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 Dr. Laila Abo Hashem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The Problem This Research Solves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research about?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school needs to track student attendance — it affects grades and discipline. But in many developing countries, teachers still pass around a paper sheet for students to sign. This method has serious problems: it is slow, easy to cheat, and the paper can get lost. This research built a modern system that uses a fingerprint scanner to record attendance automatically and saves the data online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2062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59436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484632" y="23408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Wastes Class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" y="272491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paper sheet around a large class can take 10–15 minutes. This cuts into valuable teaching time every single lecture.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2286000"/>
            <a:ext cx="42062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4727448" y="2286000"/>
            <a:ext cx="59436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4892040" y="23408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Easy to Cheat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72491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sign for their absent friend — called 'buddy punching'. It is very common and almost impossible to catch with paper.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42062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320040" y="3703320"/>
            <a:ext cx="59436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484632" y="375818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Records Get Lost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" y="414223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can be lost, damaged by water, or destroyed. Once gone, there is no backup — the data is lost forever.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27448" y="3703320"/>
            <a:ext cx="42062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2" name="Shape 20"/>
          <p:cNvSpPr/>
          <p:nvPr/>
        </p:nvSpPr>
        <p:spPr>
          <a:xfrm>
            <a:off x="4727448" y="3703320"/>
            <a:ext cx="59436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4892040" y="375818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No Remote Access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2040" y="414223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has no way to check who attended without physically going to school and finding the paper register.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A Fingerprint System That Does It All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paper, this system uses a fingerprint scanner connected to a small Wi-Fi chip (ESP32). When a student touches the scanner, it identifies them in seconds and saves the attendance record directly to Google Drive — automatically, with no teacher involvement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865376"/>
            <a:ext cx="1353312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256032" y="1865376"/>
            <a:ext cx="1353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475488" y="1993392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475488" y="19933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" y="3017520"/>
            <a:ext cx="1207008" cy="841248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329184" y="3017520"/>
            <a:ext cx="1207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👆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260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424281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places finger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FPM10A scanner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27632" y="2450592"/>
            <a:ext cx="91440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1719072" y="1865376"/>
            <a:ext cx="1353312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1719072" y="1865376"/>
            <a:ext cx="1353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1938528" y="1993392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1938528" y="19933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792224" y="3017520"/>
            <a:ext cx="1207008" cy="841248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1792224" y="3017520"/>
            <a:ext cx="1207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5564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55648" y="424281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matches fingerprint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registered templates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90672" y="2450592"/>
            <a:ext cx="91440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Shape 24"/>
          <p:cNvSpPr/>
          <p:nvPr/>
        </p:nvSpPr>
        <p:spPr>
          <a:xfrm>
            <a:off x="3182112" y="1865376"/>
            <a:ext cx="1353312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7" name="Shape 25"/>
          <p:cNvSpPr/>
          <p:nvPr/>
        </p:nvSpPr>
        <p:spPr>
          <a:xfrm>
            <a:off x="3182112" y="1865376"/>
            <a:ext cx="1353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Shape 26"/>
          <p:cNvSpPr/>
          <p:nvPr/>
        </p:nvSpPr>
        <p:spPr>
          <a:xfrm>
            <a:off x="3401568" y="1993392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Text 27"/>
          <p:cNvSpPr/>
          <p:nvPr/>
        </p:nvSpPr>
        <p:spPr>
          <a:xfrm>
            <a:off x="3401568" y="19933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3255264" y="3017520"/>
            <a:ext cx="1207008" cy="841248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29"/>
          <p:cNvSpPr/>
          <p:nvPr/>
        </p:nvSpPr>
        <p:spPr>
          <a:xfrm>
            <a:off x="3255264" y="3017520"/>
            <a:ext cx="1207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📟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21868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Shows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18688" y="424281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shows 'Welcome'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'Unknown User'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53712" y="2450592"/>
            <a:ext cx="91440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5" name="Shape 33"/>
          <p:cNvSpPr/>
          <p:nvPr/>
        </p:nvSpPr>
        <p:spPr>
          <a:xfrm>
            <a:off x="4645152" y="1865376"/>
            <a:ext cx="1353312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6" name="Shape 34"/>
          <p:cNvSpPr/>
          <p:nvPr/>
        </p:nvSpPr>
        <p:spPr>
          <a:xfrm>
            <a:off x="4645152" y="1865376"/>
            <a:ext cx="1353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5"/>
          <p:cNvSpPr/>
          <p:nvPr/>
        </p:nvSpPr>
        <p:spPr>
          <a:xfrm>
            <a:off x="4864608" y="1993392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8" name="Text 36"/>
          <p:cNvSpPr/>
          <p:nvPr/>
        </p:nvSpPr>
        <p:spPr>
          <a:xfrm>
            <a:off x="4864608" y="19933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4718304" y="3017520"/>
            <a:ext cx="1207008" cy="841248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0" name="Text 38"/>
          <p:cNvSpPr/>
          <p:nvPr/>
        </p:nvSpPr>
        <p:spPr>
          <a:xfrm>
            <a:off x="4718304" y="3017520"/>
            <a:ext cx="1207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68172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81728" y="424281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sends data via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IFTTT webhook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16752" y="2450592"/>
            <a:ext cx="91440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4" name="Shape 42"/>
          <p:cNvSpPr/>
          <p:nvPr/>
        </p:nvSpPr>
        <p:spPr>
          <a:xfrm>
            <a:off x="6108192" y="1865376"/>
            <a:ext cx="1353312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45" name="Shape 43"/>
          <p:cNvSpPr/>
          <p:nvPr/>
        </p:nvSpPr>
        <p:spPr>
          <a:xfrm>
            <a:off x="6108192" y="1865376"/>
            <a:ext cx="1353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6" name="Shape 44"/>
          <p:cNvSpPr/>
          <p:nvPr/>
        </p:nvSpPr>
        <p:spPr>
          <a:xfrm>
            <a:off x="6327648" y="1993392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7" name="Text 45"/>
          <p:cNvSpPr/>
          <p:nvPr/>
        </p:nvSpPr>
        <p:spPr>
          <a:xfrm>
            <a:off x="6327648" y="19933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6181344" y="3017520"/>
            <a:ext cx="1207008" cy="841248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9" name="Text 47"/>
          <p:cNvSpPr/>
          <p:nvPr/>
        </p:nvSpPr>
        <p:spPr>
          <a:xfrm>
            <a:off x="6181344" y="3017520"/>
            <a:ext cx="1207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614476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Online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44768" y="424281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saved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79792" y="2450592"/>
            <a:ext cx="91440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3" name="Shape 51"/>
          <p:cNvSpPr/>
          <p:nvPr/>
        </p:nvSpPr>
        <p:spPr>
          <a:xfrm>
            <a:off x="7571232" y="1865376"/>
            <a:ext cx="1353312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54" name="Shape 52"/>
          <p:cNvSpPr/>
          <p:nvPr/>
        </p:nvSpPr>
        <p:spPr>
          <a:xfrm>
            <a:off x="7571232" y="1865376"/>
            <a:ext cx="13533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5" name="Shape 53"/>
          <p:cNvSpPr/>
          <p:nvPr/>
        </p:nvSpPr>
        <p:spPr>
          <a:xfrm>
            <a:off x="7790688" y="1993392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6" name="Text 54"/>
          <p:cNvSpPr/>
          <p:nvPr/>
        </p:nvSpPr>
        <p:spPr>
          <a:xfrm>
            <a:off x="7790688" y="19933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7644384" y="3017520"/>
            <a:ext cx="1207008" cy="841248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8" name="Text 56"/>
          <p:cNvSpPr/>
          <p:nvPr/>
        </p:nvSpPr>
        <p:spPr>
          <a:xfrm>
            <a:off x="7644384" y="3017520"/>
            <a:ext cx="120700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760780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Checks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607808" y="4242816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any phone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laptop, anytime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Figure 1: The 4-Stage Flow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206240"/>
            <a:ext cx="204825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274320" y="4206240"/>
            <a:ext cx="502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384048" y="42245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Data Acquisition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45262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fingerprint scanner reads the student's finger and sends the data to the ESP32 chip to be processed.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87168" y="4206240"/>
            <a:ext cx="204825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1" name="Shape 8"/>
          <p:cNvSpPr/>
          <p:nvPr/>
        </p:nvSpPr>
        <p:spPr>
          <a:xfrm>
            <a:off x="2487168" y="4206240"/>
            <a:ext cx="50292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2596896" y="42245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Biometric Database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96896" y="45262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checks if the scanned fingerprint matches any pre-registered student stored in its memory.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0016" y="4206240"/>
            <a:ext cx="204825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4700016" y="4206240"/>
            <a:ext cx="5029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4809744" y="42245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Cloud Database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9744" y="45262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matched, the attendance record is sent over Wi-Fi to Google Drive and saved in a Google Sheet.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12864" y="4206240"/>
            <a:ext cx="204825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9" name="Shape 16"/>
          <p:cNvSpPr/>
          <p:nvPr/>
        </p:nvSpPr>
        <p:spPr>
          <a:xfrm>
            <a:off x="6912864" y="4206240"/>
            <a:ext cx="50292" cy="9144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022592" y="42245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Result Evaluation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22592" y="45262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opens Google Sheets from any phone or laptop to view the full attendance report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Steps — Figure 4: How the System Was Built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859536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4005072"/>
            <a:ext cx="212140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256032" y="4005072"/>
            <a:ext cx="5029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365760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OLED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427939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&amp; program the OLED display so it shows messages to the user.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87168" y="4005072"/>
            <a:ext cx="212140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1" name="Shape 8"/>
          <p:cNvSpPr/>
          <p:nvPr/>
        </p:nvSpPr>
        <p:spPr>
          <a:xfrm>
            <a:off x="2487168" y="4005072"/>
            <a:ext cx="50292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2596896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Fingerprint Module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96896" y="427939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program the FPM10A scanner to read and store fingerprints.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4005072"/>
            <a:ext cx="212140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5" name="Shape 12"/>
          <p:cNvSpPr/>
          <p:nvPr/>
        </p:nvSpPr>
        <p:spPr>
          <a:xfrm>
            <a:off x="4718304" y="4005072"/>
            <a:ext cx="50292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4828032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Board &amp; Libraries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28032" y="427939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all required software libraries inside the Arduino IDE.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49440" y="4005072"/>
            <a:ext cx="212140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9" name="Shape 16"/>
          <p:cNvSpPr/>
          <p:nvPr/>
        </p:nvSpPr>
        <p:spPr>
          <a:xfrm>
            <a:off x="6949440" y="4005072"/>
            <a:ext cx="50292" cy="60350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7059168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Cloud Storage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59168" y="427939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Google Drive and create the Google Sheet that stores attendance.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56032" y="4663440"/>
            <a:ext cx="212140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3" name="Shape 20"/>
          <p:cNvSpPr/>
          <p:nvPr/>
        </p:nvSpPr>
        <p:spPr>
          <a:xfrm>
            <a:off x="256032" y="4663440"/>
            <a:ext cx="5029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1"/>
          <p:cNvSpPr/>
          <p:nvPr/>
        </p:nvSpPr>
        <p:spPr>
          <a:xfrm>
            <a:off x="365760" y="47000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Mail Account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" y="49377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email account used by IFTTT to send data to Google Drive.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487168" y="4663440"/>
            <a:ext cx="212140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7" name="Shape 24"/>
          <p:cNvSpPr/>
          <p:nvPr/>
        </p:nvSpPr>
        <p:spPr>
          <a:xfrm>
            <a:off x="2487168" y="4663440"/>
            <a:ext cx="50292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5"/>
          <p:cNvSpPr/>
          <p:nvPr/>
        </p:nvSpPr>
        <p:spPr>
          <a:xfrm>
            <a:off x="2596896" y="47000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Applet Creation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96896" y="49377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IFTTT applet that listens for the webhook and triggers the upload.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18304" y="4663440"/>
            <a:ext cx="212140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1" name="Shape 28"/>
          <p:cNvSpPr/>
          <p:nvPr/>
        </p:nvSpPr>
        <p:spPr>
          <a:xfrm>
            <a:off x="4718304" y="4663440"/>
            <a:ext cx="50292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29"/>
          <p:cNvSpPr/>
          <p:nvPr/>
        </p:nvSpPr>
        <p:spPr>
          <a:xfrm>
            <a:off x="4828032" y="47000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Initiate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28032" y="49377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and test the full system end-to-end to confirm everything works.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Fingerprint Scan — Figure 6: Registered vs Unregistered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868680"/>
            <a:ext cx="768096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279392"/>
            <a:ext cx="4206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7" name="Shape 4"/>
          <p:cNvSpPr/>
          <p:nvPr/>
        </p:nvSpPr>
        <p:spPr>
          <a:xfrm>
            <a:off x="274320" y="4279392"/>
            <a:ext cx="5943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438912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Registered Student — Welcome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45902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touches the scanner and the fingerprint matches a stored record. The OLED screen shows 'Welcome Robert' — the student's name. The system then immediately uploads the attendance to Google Drive.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45152" y="4279392"/>
            <a:ext cx="4206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1" name="Shape 8"/>
          <p:cNvSpPr/>
          <p:nvPr/>
        </p:nvSpPr>
        <p:spPr>
          <a:xfrm>
            <a:off x="4645152" y="4279392"/>
            <a:ext cx="59436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4809744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Unknown Fingerprint — Rejected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9744" y="45902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scanned finger does not match anyone in the system. The screen shows 'Unregistered User' and nothing is recorded. This completely prevents cheating — no student can sign in for an absent friend.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Scan Results — What Happens Next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system boots and connects to Wi-Fi, it waits for a student to scan their finger. Here is what the system does depending on whether the fingerprint is recognized or not — and whether the upload to Google Drive succeeds.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20624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59436" cy="160934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484632" y="18470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Registered Fingerprint — Welcome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2221992"/>
            <a:ext cx="3931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touches the scanner and their fingerprint matches a stored record, the OLED screen shows a welcome message with their name. The system then immediately starts uploading their attendance record to Google Drive via Wi-Fi.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27448" y="1783080"/>
            <a:ext cx="420624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4727448" y="1783080"/>
            <a:ext cx="59436" cy="16093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4892040" y="18470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Unknown Fingerprint — Rejected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2221992"/>
            <a:ext cx="3931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fingerprint does not match anyone in the system, the screen displays 'Unregistered User' and nothing is recorded. This completely prevents any cheating — no friend can sign in for an absent student.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502152"/>
            <a:ext cx="420624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320040" y="3502152"/>
            <a:ext cx="59436" cy="1609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484632" y="35661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Upload Success — Checkmark on Screen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" y="3941064"/>
            <a:ext cx="3931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successful match and Wi-Fi upload, the OLED shows a fingerprint icon with a green checkmark. This confirms the attendance data has been safely saved in Google Sheets in the cloud.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27448" y="3502152"/>
            <a:ext cx="420624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4727448" y="3502152"/>
            <a:ext cx="59436" cy="16093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Upload Failed — Red X on Screen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3941064"/>
            <a:ext cx="3931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Wi-Fi signal is weak or lost at the moment of upload, the screen shows a fingerprint icon with a red X. The teacher knows to check the connection. This was the only issue found during testing — and it was fixed by switching to a stronger network.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 — What Was Used and Why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four main components that work together. Each one was chosen because it is cheap, easy to find, and reliable. Together they form a complete attendance device that costs very little to build.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201168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822960" y="1883664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822960" y="188366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" y="28712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FPM10A Fingerprint Scanner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" y="3346704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566928" y="33192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stores fingerprint patterns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367588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566928" y="3648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50 dpi — enough to tell people apart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4005072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566928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55 × 23 × 21.5 mm — small and compact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4334256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566928" y="4306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internal memory for templates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466344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566928" y="4636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widely available in local markets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87168" y="1719072"/>
            <a:ext cx="201168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4" name="Shape 22"/>
          <p:cNvSpPr/>
          <p:nvPr/>
        </p:nvSpPr>
        <p:spPr>
          <a:xfrm>
            <a:off x="2487168" y="1719072"/>
            <a:ext cx="2011680" cy="502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Shape 23"/>
          <p:cNvSpPr/>
          <p:nvPr/>
        </p:nvSpPr>
        <p:spPr>
          <a:xfrm>
            <a:off x="3035808" y="1883664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4"/>
          <p:cNvSpPr/>
          <p:nvPr/>
        </p:nvSpPr>
        <p:spPr>
          <a:xfrm>
            <a:off x="3035808" y="188366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📟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0" y="28712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 Screen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15184" y="3346704"/>
            <a:ext cx="118872" cy="1188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Text 27"/>
          <p:cNvSpPr/>
          <p:nvPr/>
        </p:nvSpPr>
        <p:spPr>
          <a:xfrm>
            <a:off x="2779776" y="33192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0.96 inch — small but easy to read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15184" y="3675888"/>
            <a:ext cx="118872" cy="1188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29"/>
          <p:cNvSpPr/>
          <p:nvPr/>
        </p:nvSpPr>
        <p:spPr>
          <a:xfrm>
            <a:off x="2779776" y="3648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128 × 64 pixels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15184" y="4005072"/>
            <a:ext cx="118872" cy="1188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Text 31"/>
          <p:cNvSpPr/>
          <p:nvPr/>
        </p:nvSpPr>
        <p:spPr>
          <a:xfrm>
            <a:off x="2779776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status at every stage of the process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15184" y="4334256"/>
            <a:ext cx="118872" cy="1188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5" name="Text 33"/>
          <p:cNvSpPr/>
          <p:nvPr/>
        </p:nvSpPr>
        <p:spPr>
          <a:xfrm>
            <a:off x="2779776" y="4306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very little power compared to LCD screens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15184" y="4663440"/>
            <a:ext cx="118872" cy="1188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Text 35"/>
          <p:cNvSpPr/>
          <p:nvPr/>
        </p:nvSpPr>
        <p:spPr>
          <a:xfrm>
            <a:off x="2779776" y="4636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understand what the system is doing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0016" y="1719072"/>
            <a:ext cx="201168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9" name="Shape 37"/>
          <p:cNvSpPr/>
          <p:nvPr/>
        </p:nvSpPr>
        <p:spPr>
          <a:xfrm>
            <a:off x="4700016" y="1719072"/>
            <a:ext cx="20116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0" name="Shape 38"/>
          <p:cNvSpPr/>
          <p:nvPr/>
        </p:nvSpPr>
        <p:spPr>
          <a:xfrm>
            <a:off x="5248656" y="1883664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1" name="Text 39"/>
          <p:cNvSpPr/>
          <p:nvPr/>
        </p:nvSpPr>
        <p:spPr>
          <a:xfrm>
            <a:off x="5248656" y="188366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773168" y="28712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28032" y="3346704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4" name="Text 42"/>
          <p:cNvSpPr/>
          <p:nvPr/>
        </p:nvSpPr>
        <p:spPr>
          <a:xfrm>
            <a:off x="4992624" y="33192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built-in Wi-Fi and Bluetooth — no extras needed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28032" y="3675888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6" name="Text 44"/>
          <p:cNvSpPr/>
          <p:nvPr/>
        </p:nvSpPr>
        <p:spPr>
          <a:xfrm>
            <a:off x="4992624" y="3648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40nm TSMC chip technology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28032" y="4005072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8" name="Text 46"/>
          <p:cNvSpPr/>
          <p:nvPr/>
        </p:nvSpPr>
        <p:spPr>
          <a:xfrm>
            <a:off x="4992624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the system code and logic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28032" y="4334256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0" name="Text 48"/>
          <p:cNvSpPr/>
          <p:nvPr/>
        </p:nvSpPr>
        <p:spPr>
          <a:xfrm>
            <a:off x="4992624" y="4306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 connections between parts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28032" y="466344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2" name="Text 50"/>
          <p:cNvSpPr/>
          <p:nvPr/>
        </p:nvSpPr>
        <p:spPr>
          <a:xfrm>
            <a:off x="4992624" y="4636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3.3V power to all other components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12864" y="1719072"/>
            <a:ext cx="201168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54" name="Shape 52"/>
          <p:cNvSpPr/>
          <p:nvPr/>
        </p:nvSpPr>
        <p:spPr>
          <a:xfrm>
            <a:off x="6912864" y="1719072"/>
            <a:ext cx="2011680" cy="5029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5" name="Shape 53"/>
          <p:cNvSpPr/>
          <p:nvPr/>
        </p:nvSpPr>
        <p:spPr>
          <a:xfrm>
            <a:off x="7461504" y="1883664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6" name="Text 54"/>
          <p:cNvSpPr/>
          <p:nvPr/>
        </p:nvSpPr>
        <p:spPr>
          <a:xfrm>
            <a:off x="7461504" y="188366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986016" y="287121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(Cloud)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40880" y="3346704"/>
            <a:ext cx="118872" cy="118872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9" name="Text 57"/>
          <p:cNvSpPr/>
          <p:nvPr/>
        </p:nvSpPr>
        <p:spPr>
          <a:xfrm>
            <a:off x="7205472" y="33192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15 GB storage — more than enough for years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040880" y="3675888"/>
            <a:ext cx="118872" cy="118872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1" name="Text 59"/>
          <p:cNvSpPr/>
          <p:nvPr/>
        </p:nvSpPr>
        <p:spPr>
          <a:xfrm>
            <a:off x="7205472" y="3648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saved in Google Sheets format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040880" y="4005072"/>
            <a:ext cx="118872" cy="118872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3" name="Text 61"/>
          <p:cNvSpPr/>
          <p:nvPr/>
        </p:nvSpPr>
        <p:spPr>
          <a:xfrm>
            <a:off x="7205472" y="3977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can open it from any phone or laptop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040880" y="4334256"/>
            <a:ext cx="118872" cy="118872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5" name="Text 63"/>
          <p:cNvSpPr/>
          <p:nvPr/>
        </p:nvSpPr>
        <p:spPr>
          <a:xfrm>
            <a:off x="7205472" y="4306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pay for hosting or a server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040880" y="4663440"/>
            <a:ext cx="118872" cy="118872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7" name="Text 65"/>
          <p:cNvSpPr/>
          <p:nvPr/>
        </p:nvSpPr>
        <p:spPr>
          <a:xfrm>
            <a:off x="7205472" y="4636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always backed up and never lost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Other Systems and Their Gaps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researchers have tried to build better attendance systems using different technologies. This research studied all of them and found that most had one or more serious problems — especially for use in developing countries with limited budgets and infrastructure.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8503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59436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475488" y="17922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[2–6]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1810512"/>
            <a:ext cx="0" cy="4572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3246120" y="1792224"/>
            <a:ext cx="5468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in labs but needs a powerful camera and computer. Too expensive and slow for everyday classroom use.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8503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59436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475488" y="245059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Systems [7–11]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08960" y="2468880"/>
            <a:ext cx="0" cy="4572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3246120" y="2450592"/>
            <a:ext cx="5468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designs lack cloud storage. Teachers have to be on-site to see the data. This system fixes that by adding Google Drive.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054096"/>
            <a:ext cx="8503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320040" y="3054096"/>
            <a:ext cx="59436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475488" y="3108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[12–15]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08960" y="3127248"/>
            <a:ext cx="0" cy="4572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3246120" y="3108960"/>
            <a:ext cx="5468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confused by background noise in a classroom. Not reliable enough for daily attendance recording.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712464"/>
            <a:ext cx="8503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4" name="Shape 22"/>
          <p:cNvSpPr/>
          <p:nvPr/>
        </p:nvSpPr>
        <p:spPr>
          <a:xfrm>
            <a:off x="320040" y="3712464"/>
            <a:ext cx="59436" cy="59436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475488" y="3767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Recognition [16–18]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108960" y="3785616"/>
            <a:ext cx="0" cy="4572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7" name="Text 25"/>
          <p:cNvSpPr/>
          <p:nvPr/>
        </p:nvSpPr>
        <p:spPr>
          <a:xfrm>
            <a:off x="3246120" y="3767328"/>
            <a:ext cx="5468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 but the sensors cost a lot of money — not affordable for most schools in developing countries.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9" name="Shape 27"/>
          <p:cNvSpPr/>
          <p:nvPr/>
        </p:nvSpPr>
        <p:spPr>
          <a:xfrm>
            <a:off x="320040" y="4370832"/>
            <a:ext cx="5943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475488" y="442569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Cards [19–20]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108960" y="4443984"/>
            <a:ext cx="0" cy="4572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3246120" y="4425696"/>
            <a:ext cx="5468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can be shared or handed to a friend. It still does not truly verify who the person is — cheating is still possible.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" y="5029200"/>
            <a:ext cx="8503920" cy="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4" name="Shape 32"/>
          <p:cNvSpPr/>
          <p:nvPr/>
        </p:nvSpPr>
        <p:spPr>
          <a:xfrm>
            <a:off x="320040" y="4992624"/>
            <a:ext cx="8503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Gets to Google Drive — IFTTT &amp; Webhook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part of this system is how the attendance record travels from the scanner to Google Drive. It uses a free web tool called IFTTT (If This Then That) that listens for a signal from the ESP32 and automatically sends the data to Google Sheets — no manual steps needed at 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85039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420624" y="1947672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420624" y="1947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179222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Matched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20440" y="1847088"/>
            <a:ext cx="0" cy="512064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3657600" y="1810512"/>
            <a:ext cx="5047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confirms the scanned finger belongs to a registered student. This event starts the entire upload process.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85039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420624" y="27157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420624" y="2715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5603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IFTTT Webhook Triggered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20440" y="2615184"/>
            <a:ext cx="0" cy="512064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3657600" y="2578608"/>
            <a:ext cx="5047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sends a trigger signal to IFTTT — a free web automation service. This signal is called a 'webhook'.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85039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420624" y="348386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420624" y="34838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332841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Sent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20440" y="3383280"/>
            <a:ext cx="0" cy="512064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3657600" y="3346704"/>
            <a:ext cx="5047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IFTTT sends an HTTP POST request — a standard internet method of sending data — directly to Google Drive.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059936"/>
            <a:ext cx="85039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7" name="Shape 25"/>
          <p:cNvSpPr/>
          <p:nvPr/>
        </p:nvSpPr>
        <p:spPr>
          <a:xfrm>
            <a:off x="420624" y="4251960"/>
            <a:ext cx="329184" cy="32918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420624" y="4251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09651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Google Sheets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520440" y="4151376"/>
            <a:ext cx="0" cy="512064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29"/>
          <p:cNvSpPr/>
          <p:nvPr/>
        </p:nvSpPr>
        <p:spPr>
          <a:xfrm>
            <a:off x="3657600" y="4114800"/>
            <a:ext cx="50474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row is added to the Google Sheet with: Date &amp; Time | Course Code | Student Name | Fingerprint ID | Student ID.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" y="5010912"/>
            <a:ext cx="8503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Shape 31"/>
          <p:cNvSpPr/>
          <p:nvPr/>
        </p:nvSpPr>
        <p:spPr>
          <a:xfrm>
            <a:off x="320040" y="4919472"/>
            <a:ext cx="8503920" cy="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4" name="Shape 3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5" name="Shape 33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6" name="Text 34"/>
          <p:cNvSpPr/>
          <p:nvPr/>
        </p:nvSpPr>
        <p:spPr>
          <a:xfrm>
            <a:off x="384048" y="4828032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Google Sheet row stores:   Date &amp; Time  |  Course Code  |  Student Name  |  Fingerprint ID  |  Student ID Number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776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365760" y="923544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What Works Well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" y="144475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676656" y="140817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cheap to build — no yearly costs at 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" y="197510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676656" y="19385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skills needed to operate the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" y="250545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676656" y="24688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cheating in attendance completely impossible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" y="30358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676656" y="299923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can check records from home at any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" y="35661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676656" y="352958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cloud storage — 15 GB is enough for years of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" y="409651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676656" y="405993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each student in only 2 to 5 seconds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914400"/>
            <a:ext cx="395935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4892040" y="914400"/>
            <a:ext cx="3959352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4983480" y="923544"/>
            <a:ext cx="3776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Current Limitations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14447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2"/>
          <p:cNvSpPr/>
          <p:nvPr/>
        </p:nvSpPr>
        <p:spPr>
          <a:xfrm>
            <a:off x="5285232" y="1408176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internet — upload fails if Wi-Fi is down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210312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6" name="Text 24"/>
          <p:cNvSpPr/>
          <p:nvPr/>
        </p:nvSpPr>
        <p:spPr>
          <a:xfrm>
            <a:off x="5285232" y="2066544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must be registered before first use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276148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5285232" y="2724912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work in areas with no internet connection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341985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5285232" y="338328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or injured fingers may not scan correctly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407822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5285232" y="4041648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scanner per room — long queues in big classes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What This System Achieved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41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8229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built a real, working smart attendance system. A student touches the fingerprint scanner and within 2 to 5 seconds, their attendance is saved in Google Drive — fully automatically, with no teacher involvement. It is cheap, easy to use, and designed for schools and universities in countries with limited resources and budgets.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20299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2029968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877824" y="2651760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877824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3192" y="3639312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" y="39502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5 seconds per student — much faster than any paper method, even in large classes.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2888" y="2487168"/>
            <a:ext cx="20299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2532888" y="2487168"/>
            <a:ext cx="2029968" cy="502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3090672" y="2651760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3090672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606040" y="3639312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39502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 are unique — no mistakes, no cheating, no one signing for an absent friend.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45736" y="2487168"/>
            <a:ext cx="20299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2" name="Shape 20"/>
          <p:cNvSpPr/>
          <p:nvPr/>
        </p:nvSpPr>
        <p:spPr>
          <a:xfrm>
            <a:off x="4745736" y="2487168"/>
            <a:ext cx="2029968" cy="5029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Shape 21"/>
          <p:cNvSpPr/>
          <p:nvPr/>
        </p:nvSpPr>
        <p:spPr>
          <a:xfrm>
            <a:off x="5303520" y="2651760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Text 22"/>
          <p:cNvSpPr/>
          <p:nvPr/>
        </p:nvSpPr>
        <p:spPr>
          <a:xfrm>
            <a:off x="5303520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18888" y="3639312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39502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hardware + free Google Drive = a system that any school can afford to run long term.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58584" y="2487168"/>
            <a:ext cx="20299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8" name="Shape 26"/>
          <p:cNvSpPr/>
          <p:nvPr/>
        </p:nvSpPr>
        <p:spPr>
          <a:xfrm>
            <a:off x="6958584" y="2487168"/>
            <a:ext cx="2029968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Shape 27"/>
          <p:cNvSpPr/>
          <p:nvPr/>
        </p:nvSpPr>
        <p:spPr>
          <a:xfrm>
            <a:off x="7516368" y="2651760"/>
            <a:ext cx="914400" cy="914400"/>
          </a:xfrm>
          <a:prstGeom prst="ellipse">
            <a:avLst/>
          </a:prstGeom>
          <a:solidFill>
            <a:srgbClr val="CCEDE9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7516368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031736" y="3639312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31736" y="39502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views attendance from their phone at home — no need to come to school to check.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4" name="Text 32"/>
          <p:cNvSpPr/>
          <p:nvPr/>
        </p:nvSpPr>
        <p:spPr>
          <a:xfrm>
            <a:off x="384048" y="4892040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shows that modern technology can solve real everyday problems — even with a very small budget.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Ideas to Make It Even Better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9436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works well today, but here are four improvements that future teams can build on top of this project — each one fixes a specific limitation of the current version.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42062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59436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484632" y="17830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Add an Offline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217627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if the internet is down, attendance cannot be uploaded. A future version should save the records locally on the device first, and then automatically sync them to Google Drive when the connection comes back.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27448" y="1719072"/>
            <a:ext cx="42062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4727448" y="1719072"/>
            <a:ext cx="59436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4892040" y="17830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Expand to More Classrooms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17627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has one scanner for one room. It should be scaled to cover an entire school — with one scanner per classroom and all attendance data going to the same central Google Sheet.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474720"/>
            <a:ext cx="42062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59436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484632" y="35387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Build a Mobile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9319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app could send real-time notifications to students and parents — for example, automatically sending a message like 'Your child attended today' or 'Your child was absent today'.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27448" y="3474720"/>
            <a:ext cx="42062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4727448" y="3474720"/>
            <a:ext cx="59436" cy="16459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4892040" y="35387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Add Stronger 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9319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important events like exams, the system could require both a fingerprint AND a PIN number — making it even harder to cheat or for unauthorized people to enter a restricted area.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" name="Shape 2"/>
          <p:cNvSpPr/>
          <p:nvPr/>
        </p:nvSpPr>
        <p:spPr>
          <a:xfrm>
            <a:off x="3429000" y="502920"/>
            <a:ext cx="2286000" cy="2286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3429000" y="5029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🎓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7307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 Dr. Laila Abo Hashem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245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Physics: Conference Series 2034 (2021)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2086</Words>
  <Application>Microsoft Office PowerPoint</Application>
  <PresentationFormat>On-screen Show (16:9)</PresentationFormat>
  <Paragraphs>226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</cp:lastModifiedBy>
  <cp:revision>3</cp:revision>
  <dcterms:created xsi:type="dcterms:W3CDTF">2026-05-10T03:33:44Z</dcterms:created>
  <dcterms:modified xsi:type="dcterms:W3CDTF">2026-05-10T10:35:15Z</dcterms:modified>
</cp:coreProperties>
</file>